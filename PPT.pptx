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45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9" r:id="rId3"/>
    <p:sldId id="278" r:id="rId4"/>
    <p:sldId id="279" r:id="rId5"/>
    <p:sldId id="280" r:id="rId6"/>
    <p:sldId id="281" r:id="rId7"/>
    <p:sldId id="293" r:id="rId8"/>
    <p:sldId id="294" r:id="rId9"/>
    <p:sldId id="285" r:id="rId10"/>
    <p:sldId id="284" r:id="rId11"/>
    <p:sldId id="286" r:id="rId12"/>
    <p:sldId id="292" r:id="rId13"/>
    <p:sldId id="287" r:id="rId14"/>
    <p:sldId id="288" r:id="rId15"/>
    <p:sldId id="296" r:id="rId16"/>
    <p:sldId id="289" r:id="rId17"/>
    <p:sldId id="290" r:id="rId18"/>
    <p:sldId id="295" r:id="rId19"/>
    <p:sldId id="29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GAdneU/JiodrV91VFEWaRP9i+7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nayat Ullah" initials="EU" lastIdx="1" clrIdx="0">
    <p:extLst>
      <p:ext uri="{19B8F6BF-5375-455C-9EA6-DF929625EA0E}">
        <p15:presenceInfo xmlns:p15="http://schemas.microsoft.com/office/powerpoint/2012/main" userId="e4786790f9917e5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60"/>
  </p:normalViewPr>
  <p:slideViewPr>
    <p:cSldViewPr snapToGrid="0">
      <p:cViewPr varScale="1">
        <p:scale>
          <a:sx n="67" d="100"/>
          <a:sy n="67" d="100"/>
        </p:scale>
        <p:origin x="159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FAE8E8-D805-C442-2E9C-712F7B1A3A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36133-C247-1127-51B4-879CC9F65E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FA085-388D-4E26-82BC-7AD8761CF3DF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1025D-CB3B-5B50-07C8-742D090FE1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DBF1D-ADD4-6121-434C-B09F5E5BD2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0F23E-93F4-414E-A8AE-F6E6F45856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187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4219949"/>
      </p:ext>
    </p:extLst>
  </p:cSld>
  <p:clrMap bg1="lt1" tx1="dk1" bg2="dk2" tx2="lt2" accent1="accent1" accent2="accent2" accent3="accent3" accent4="accent4" accent5="accent5" accent6="accent6" hlink="hlink" folHlink="folHlink"/>
  <p:hf hdr="0" ftr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AB81F6-36B7-1CB0-7C62-9B958E6B50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E53F6-FA5A-A966-21C1-B0E5C2071A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64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780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52" r:id="rId7"/>
    <p:sldLayoutId id="2147483953" r:id="rId8"/>
    <p:sldLayoutId id="2147483954" r:id="rId9"/>
    <p:sldLayoutId id="2147483955" r:id="rId10"/>
    <p:sldLayoutId id="2147483956" r:id="rId11"/>
    <p:sldLayoutId id="2147483957" r:id="rId12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"/>
          <p:cNvSpPr txBox="1"/>
          <p:nvPr/>
        </p:nvSpPr>
        <p:spPr>
          <a:xfrm>
            <a:off x="228600" y="2240796"/>
            <a:ext cx="8856000" cy="539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3200" b="1" i="0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B.T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</a:t>
            </a:r>
            <a:r>
              <a:rPr lang="en-US" sz="3200" b="1" i="0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ch External Project Evaluation ,VIIIth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3200" b="1" i="0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Sem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20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Urdu Heritage Translation Project: Reviving Historical Documents for Modern Understanding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 </a:t>
            </a:r>
            <a:endParaRPr lang="en-US" sz="2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642960" y="5357880"/>
            <a:ext cx="8077680" cy="109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SHARDA SCHOOL OF ENGINEERING AND TECHNOLOGY 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May 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"/>
          <p:cNvSpPr/>
          <p:nvPr/>
        </p:nvSpPr>
        <p:spPr>
          <a:xfrm>
            <a:off x="460080" y="3428999"/>
            <a:ext cx="5073080" cy="1516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Presented by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defTabSz="749935">
              <a:spcAft>
                <a:spcPts val="600"/>
              </a:spcAft>
              <a:defRPr/>
            </a:pPr>
            <a:r>
              <a:rPr lang="en-US" sz="1600" dirty="0">
                <a:latin typeface="Times New Roman" panose="02020603050405020304" charset="0"/>
                <a:cs typeface="Times New Roman" panose="02020603050405020304" charset="0"/>
              </a:rPr>
              <a:t>Enayat Ullah(2021504061)</a:t>
            </a:r>
          </a:p>
          <a:p>
            <a:pPr defTabSz="749935">
              <a:spcAft>
                <a:spcPts val="600"/>
              </a:spcAft>
              <a:defRPr/>
            </a:pPr>
            <a:r>
              <a:rPr lang="en-US" sz="1600" dirty="0">
                <a:latin typeface="Times New Roman"/>
                <a:cs typeface="Times New Roman"/>
                <a:sym typeface="Georgia" panose="02040502050405020303"/>
              </a:rPr>
              <a:t>Aditya Kumar Mehta(2021481653)</a:t>
            </a:r>
          </a:p>
          <a:p>
            <a:pPr defTabSz="749935">
              <a:spcAft>
                <a:spcPts val="600"/>
              </a:spcAft>
              <a:defRPr/>
            </a:pPr>
            <a:r>
              <a:rPr lang="en-US" sz="1600" kern="1200" dirty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  <a:sym typeface="Georgia" panose="02040502050405020303"/>
              </a:rPr>
              <a:t>Muzamil Hussain Mir(2021317028)</a:t>
            </a:r>
          </a:p>
          <a:p>
            <a:pPr defTabSz="749935">
              <a:spcAft>
                <a:spcPts val="600"/>
              </a:spcAft>
              <a:defRPr/>
            </a:pPr>
            <a:endParaRPr lang="en-US" sz="1600" b="1" dirty="0">
              <a:latin typeface="Times New Roman"/>
              <a:cs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5726160" y="3701965"/>
            <a:ext cx="2926222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Supervision of:-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"/>
          <p:cNvSpPr/>
          <p:nvPr/>
        </p:nvSpPr>
        <p:spPr>
          <a:xfrm>
            <a:off x="5726160" y="4066645"/>
            <a:ext cx="2994480" cy="539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a typeface="+mn-lt"/>
                <a:cs typeface="+mn-lt"/>
                <a:sym typeface="PT Sans"/>
              </a:rPr>
              <a:t>Dr. Manmohan Singh Yadav</a:t>
            </a:r>
          </a:p>
          <a:p>
            <a:pPr algn="just" defTabSz="374650">
              <a:spcAft>
                <a:spcPts val="600"/>
              </a:spcAft>
            </a:pPr>
            <a:r>
              <a:rPr lang="en-US" altLang="en-IN" sz="1600" dirty="0">
                <a:latin typeface="Times New Roman"/>
                <a:cs typeface="Times New Roman"/>
                <a:sym typeface="PT Sans"/>
              </a:rPr>
              <a:t>Asst.</a:t>
            </a:r>
            <a:r>
              <a:rPr lang="en-US" altLang="en-IN" sz="1600" kern="1200" dirty="0">
                <a:latin typeface="Times New Roman"/>
                <a:cs typeface="Times New Roman"/>
                <a:sym typeface="PT Sans"/>
              </a:rPr>
              <a:t> Professor</a:t>
            </a:r>
            <a:endParaRPr lang="en-US" altLang="en-IN" sz="1600" kern="1200" dirty="0">
              <a:latin typeface="Times New Roman"/>
              <a:cs typeface="Times New Roman"/>
            </a:endParaRPr>
          </a:p>
        </p:txBody>
      </p:sp>
      <p:sp>
        <p:nvSpPr>
          <p:cNvPr id="180" name="Google Shape;180;p1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1"/>
          <p:cNvPicPr preferRelativeResize="0"/>
          <p:nvPr/>
        </p:nvPicPr>
        <p:blipFill rotWithShape="1">
          <a:blip r:embed="rId3">
            <a:alphaModFix/>
          </a:blip>
          <a:srcRect l="35533"/>
          <a:stretch/>
        </p:blipFill>
        <p:spPr>
          <a:xfrm>
            <a:off x="2661312" y="0"/>
            <a:ext cx="3935829" cy="171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from guide for the evaluation</a:t>
            </a:r>
          </a:p>
        </p:txBody>
      </p:sp>
    </p:spTree>
    <p:extLst>
      <p:ext uri="{BB962C8B-B14F-4D97-AF65-F5344CB8AC3E}">
        <p14:creationId xmlns:p14="http://schemas.microsoft.com/office/powerpoint/2010/main" val="1686196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 of the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157288"/>
            <a:ext cx="8229240" cy="4968471"/>
          </a:xfrm>
        </p:spPr>
        <p:txBody>
          <a:bodyPr>
            <a:noAutofit/>
          </a:bodyPr>
          <a:lstStyle/>
          <a:p>
            <a:pPr marL="457200" indent="-457200" fontAlgn="t"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to the project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Motivation for the project</a:t>
            </a: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Statements/Objectives of the Project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Workload distribution/ Team Work</a:t>
            </a: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Solution Approach</a:t>
            </a: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and framework</a:t>
            </a: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Outcome Produced</a:t>
            </a: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the Outcome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1DE10-6F54-609E-921A-78473B4DC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380" y="463216"/>
            <a:ext cx="8229240" cy="1142640"/>
          </a:xfrm>
        </p:spPr>
        <p:txBody>
          <a:bodyPr/>
          <a:lstStyle/>
          <a:p>
            <a: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to the project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47B2F-C8B7-2CB1-E03B-6B824382C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705" y="1743958"/>
            <a:ext cx="7211506" cy="241326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Objective</a:t>
            </a:r>
            <a:r>
              <a:rPr lang="en-US" sz="1800" dirty="0"/>
              <a:t>: To develop a tool that </a:t>
            </a:r>
            <a:r>
              <a:rPr lang="en-US" sz="1800" b="1" dirty="0"/>
              <a:t>digitally recognizes</a:t>
            </a:r>
            <a:r>
              <a:rPr lang="en-US" sz="1800" dirty="0"/>
              <a:t> and </a:t>
            </a:r>
            <a:r>
              <a:rPr lang="en-US" sz="1800" b="1" dirty="0"/>
              <a:t>translates old Urdu handwritten documents</a:t>
            </a:r>
            <a:r>
              <a:rPr lang="en-US" sz="1800" dirty="0"/>
              <a:t> into modern Urdu.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Key Technology</a:t>
            </a:r>
            <a:r>
              <a:rPr lang="en-US" sz="1800" dirty="0"/>
              <a:t>: AI models for </a:t>
            </a:r>
            <a:r>
              <a:rPr lang="en-US" sz="1800" b="1" dirty="0"/>
              <a:t>text detection</a:t>
            </a:r>
            <a:r>
              <a:rPr lang="en-US" sz="1800" dirty="0"/>
              <a:t>, </a:t>
            </a:r>
            <a:r>
              <a:rPr lang="en-US" sz="1800" b="1" dirty="0"/>
              <a:t>character recognition</a:t>
            </a:r>
            <a:r>
              <a:rPr lang="en-US" sz="1800" dirty="0"/>
              <a:t>, and </a:t>
            </a:r>
            <a:r>
              <a:rPr lang="en-US" sz="1800" b="1" dirty="0"/>
              <a:t>sequence modeling</a:t>
            </a:r>
            <a:r>
              <a:rPr lang="en-US" sz="18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Target Outcome</a:t>
            </a:r>
            <a:r>
              <a:rPr lang="en-US" sz="1800" dirty="0"/>
              <a:t>: A system that can </a:t>
            </a:r>
            <a:r>
              <a:rPr lang="en-US" sz="1800" b="1" dirty="0"/>
              <a:t>preserve</a:t>
            </a:r>
            <a:r>
              <a:rPr lang="en-US" sz="1800" dirty="0"/>
              <a:t> and </a:t>
            </a:r>
            <a:r>
              <a:rPr lang="en-US" sz="1800" b="1" dirty="0"/>
              <a:t>translate</a:t>
            </a:r>
            <a:r>
              <a:rPr lang="en-US" sz="1800" dirty="0"/>
              <a:t> historical Urdu texts to make them accessible to a wider audience.</a:t>
            </a:r>
          </a:p>
        </p:txBody>
      </p:sp>
    </p:spTree>
    <p:extLst>
      <p:ext uri="{BB962C8B-B14F-4D97-AF65-F5344CB8AC3E}">
        <p14:creationId xmlns:p14="http://schemas.microsoft.com/office/powerpoint/2010/main" val="1622201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2D011-2352-B8EB-264B-7FBF072A4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380" y="759363"/>
            <a:ext cx="8229240" cy="1142640"/>
          </a:xfrm>
        </p:spPr>
        <p:txBody>
          <a:bodyPr/>
          <a:lstStyle/>
          <a:p>
            <a: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Motivation for the project</a:t>
            </a:r>
            <a:b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65996E8-FB55-FA5B-2803-210701179CC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27521" y="1902003"/>
            <a:ext cx="708895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Preserving Heritage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Many Urdu texts from the past are at risk of being lost or inaccessible due to their old form and difficult handwriting.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Digitizing and translating these documents will make them more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researchers, students, and general readers.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Cultural Significance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Urdu, with its rich history, needs to be preserved and understood better by modern generations. </a:t>
            </a:r>
          </a:p>
        </p:txBody>
      </p:sp>
    </p:spTree>
    <p:extLst>
      <p:ext uri="{BB962C8B-B14F-4D97-AF65-F5344CB8AC3E}">
        <p14:creationId xmlns:p14="http://schemas.microsoft.com/office/powerpoint/2010/main" val="1880402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66FBD-7F7C-6192-7286-7EE4954E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6635"/>
            <a:ext cx="8229240" cy="1142640"/>
          </a:xfrm>
        </p:spPr>
        <p:txBody>
          <a:bodyPr/>
          <a:lstStyle/>
          <a:p>
            <a: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Statements/Objectives of the Project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5AAE44-A151-9CBE-51F0-D566B18F8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754" y="1822735"/>
            <a:ext cx="7645140" cy="3212530"/>
          </a:xfrm>
        </p:spPr>
        <p:txBody>
          <a:bodyPr>
            <a:normAutofit/>
          </a:bodyPr>
          <a:lstStyle/>
          <a:p>
            <a:r>
              <a:rPr lang="en-US" sz="1800" b="1" dirty="0"/>
              <a:t>Challenges: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Nastaliq Script Recognition:</a:t>
            </a:r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OCR struggles with the complex and stylized Nastaliq script.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Handwritten Text Variability:</a:t>
            </a:r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Handwritten text varies, making it difficult to decode accurately.</a:t>
            </a:r>
          </a:p>
          <a:p>
            <a:r>
              <a:rPr lang="en-US" sz="1800" b="1" dirty="0"/>
              <a:t>Objectives: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Accurate Urdu Text Recognition:</a:t>
            </a:r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Develop an OCR system to recognize printed and handwritten Urdu 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Accessible Platform:</a:t>
            </a:r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Provide an easy-to-use platform for users to access digitized and translated documents.</a:t>
            </a:r>
          </a:p>
        </p:txBody>
      </p:sp>
    </p:spTree>
    <p:extLst>
      <p:ext uri="{BB962C8B-B14F-4D97-AF65-F5344CB8AC3E}">
        <p14:creationId xmlns:p14="http://schemas.microsoft.com/office/powerpoint/2010/main" val="1028330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3B3B7E-98FA-184D-DCE1-E227D0ADD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473471"/>
              </p:ext>
            </p:extLst>
          </p:nvPr>
        </p:nvGraphicFramePr>
        <p:xfrm>
          <a:off x="42240" y="1209040"/>
          <a:ext cx="9059159" cy="50624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7905">
                  <a:extLst>
                    <a:ext uri="{9D8B030D-6E8A-4147-A177-3AD203B41FA5}">
                      <a16:colId xmlns:a16="http://schemas.microsoft.com/office/drawing/2014/main" val="3413693952"/>
                    </a:ext>
                  </a:extLst>
                </a:gridCol>
                <a:gridCol w="1107905">
                  <a:extLst>
                    <a:ext uri="{9D8B030D-6E8A-4147-A177-3AD203B41FA5}">
                      <a16:colId xmlns:a16="http://schemas.microsoft.com/office/drawing/2014/main" val="4001644310"/>
                    </a:ext>
                  </a:extLst>
                </a:gridCol>
                <a:gridCol w="1533657">
                  <a:extLst>
                    <a:ext uri="{9D8B030D-6E8A-4147-A177-3AD203B41FA5}">
                      <a16:colId xmlns:a16="http://schemas.microsoft.com/office/drawing/2014/main" val="621996044"/>
                    </a:ext>
                  </a:extLst>
                </a:gridCol>
                <a:gridCol w="878072">
                  <a:extLst>
                    <a:ext uri="{9D8B030D-6E8A-4147-A177-3AD203B41FA5}">
                      <a16:colId xmlns:a16="http://schemas.microsoft.com/office/drawing/2014/main" val="1682531200"/>
                    </a:ext>
                  </a:extLst>
                </a:gridCol>
                <a:gridCol w="1107905">
                  <a:extLst>
                    <a:ext uri="{9D8B030D-6E8A-4147-A177-3AD203B41FA5}">
                      <a16:colId xmlns:a16="http://schemas.microsoft.com/office/drawing/2014/main" val="2273080719"/>
                    </a:ext>
                  </a:extLst>
                </a:gridCol>
                <a:gridCol w="1107905">
                  <a:extLst>
                    <a:ext uri="{9D8B030D-6E8A-4147-A177-3AD203B41FA5}">
                      <a16:colId xmlns:a16="http://schemas.microsoft.com/office/drawing/2014/main" val="2317065934"/>
                    </a:ext>
                  </a:extLst>
                </a:gridCol>
                <a:gridCol w="1107905">
                  <a:extLst>
                    <a:ext uri="{9D8B030D-6E8A-4147-A177-3AD203B41FA5}">
                      <a16:colId xmlns:a16="http://schemas.microsoft.com/office/drawing/2014/main" val="781541514"/>
                    </a:ext>
                  </a:extLst>
                </a:gridCol>
                <a:gridCol w="1107905">
                  <a:extLst>
                    <a:ext uri="{9D8B030D-6E8A-4147-A177-3AD203B41FA5}">
                      <a16:colId xmlns:a16="http://schemas.microsoft.com/office/drawing/2014/main" val="2955401196"/>
                    </a:ext>
                  </a:extLst>
                </a:gridCol>
              </a:tblGrid>
              <a:tr h="3411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S. No.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Title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Author(s)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Publication Date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Algorithm/Methodology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Result (Accuracy or Other Parameters)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Pros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Cons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extLst>
                  <a:ext uri="{0D108BD9-81ED-4DB2-BD59-A6C34878D82A}">
                    <a16:rowId xmlns:a16="http://schemas.microsoft.com/office/drawing/2014/main" val="2495248994"/>
                  </a:ext>
                </a:extLst>
              </a:tr>
              <a:tr h="127908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Optical Character Recognition System for Urdu Words in Nastaliq Font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Safia Shabbir and Imran Siddiqi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2015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Recognition of Urdu words in Nastaliq font using ligatures as units of recognition. Ligatures recognized using right-to-left HMMs.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Segmentation-free and size invariant technique. Promising recognition rates at ligature and word levels.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High accuracy for ligatures and words. Size invariant technique.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Limited existing literature on Urdu OCR. Over-reliance on ligature recognition may lead to inaccuracies.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extLst>
                  <a:ext uri="{0D108BD9-81ED-4DB2-BD59-A6C34878D82A}">
                    <a16:rowId xmlns:a16="http://schemas.microsoft.com/office/drawing/2014/main" val="1611244922"/>
                  </a:ext>
                </a:extLst>
              </a:tr>
              <a:tr h="15439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Segmentation-free Optical Character Recognition for Printed Urdu Text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Israr Ud Din, Imran Siddiqi, Shehzad Khalid, and Tahir Azam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2017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Segmentation-free OCR system for printed Urdu Nastaliq font using ligatures as units of recognition. Statistical features and Hidden Markov Models employed for classification.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Ligature recognition rate of 92% on more than 6000 query ligatures.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High recognition rate for printed Urdu text.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May struggle with handwritten or stylized text.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extLst>
                  <a:ext uri="{0D108BD9-81ED-4DB2-BD59-A6C34878D82A}">
                    <a16:rowId xmlns:a16="http://schemas.microsoft.com/office/drawing/2014/main" val="195807143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4ABB4072-DAEF-228D-D901-41646CABB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</p:spPr>
        <p:txBody>
          <a:bodyPr/>
          <a:lstStyle/>
          <a:p>
            <a: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918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CAD9BC-220F-0F2F-37C8-51C66C364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300607"/>
              </p:ext>
            </p:extLst>
          </p:nvPr>
        </p:nvGraphicFramePr>
        <p:xfrm>
          <a:off x="42421" y="2799080"/>
          <a:ext cx="9059159" cy="35054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7905">
                  <a:extLst>
                    <a:ext uri="{9D8B030D-6E8A-4147-A177-3AD203B41FA5}">
                      <a16:colId xmlns:a16="http://schemas.microsoft.com/office/drawing/2014/main" val="556925173"/>
                    </a:ext>
                  </a:extLst>
                </a:gridCol>
                <a:gridCol w="1107905">
                  <a:extLst>
                    <a:ext uri="{9D8B030D-6E8A-4147-A177-3AD203B41FA5}">
                      <a16:colId xmlns:a16="http://schemas.microsoft.com/office/drawing/2014/main" val="3429084186"/>
                    </a:ext>
                  </a:extLst>
                </a:gridCol>
                <a:gridCol w="1533657">
                  <a:extLst>
                    <a:ext uri="{9D8B030D-6E8A-4147-A177-3AD203B41FA5}">
                      <a16:colId xmlns:a16="http://schemas.microsoft.com/office/drawing/2014/main" val="3159174805"/>
                    </a:ext>
                  </a:extLst>
                </a:gridCol>
                <a:gridCol w="878072">
                  <a:extLst>
                    <a:ext uri="{9D8B030D-6E8A-4147-A177-3AD203B41FA5}">
                      <a16:colId xmlns:a16="http://schemas.microsoft.com/office/drawing/2014/main" val="2816977851"/>
                    </a:ext>
                  </a:extLst>
                </a:gridCol>
                <a:gridCol w="1107905">
                  <a:extLst>
                    <a:ext uri="{9D8B030D-6E8A-4147-A177-3AD203B41FA5}">
                      <a16:colId xmlns:a16="http://schemas.microsoft.com/office/drawing/2014/main" val="732235581"/>
                    </a:ext>
                  </a:extLst>
                </a:gridCol>
                <a:gridCol w="1107905">
                  <a:extLst>
                    <a:ext uri="{9D8B030D-6E8A-4147-A177-3AD203B41FA5}">
                      <a16:colId xmlns:a16="http://schemas.microsoft.com/office/drawing/2014/main" val="3803448307"/>
                    </a:ext>
                  </a:extLst>
                </a:gridCol>
                <a:gridCol w="1107905">
                  <a:extLst>
                    <a:ext uri="{9D8B030D-6E8A-4147-A177-3AD203B41FA5}">
                      <a16:colId xmlns:a16="http://schemas.microsoft.com/office/drawing/2014/main" val="2479812787"/>
                    </a:ext>
                  </a:extLst>
                </a:gridCol>
                <a:gridCol w="1107905">
                  <a:extLst>
                    <a:ext uri="{9D8B030D-6E8A-4147-A177-3AD203B41FA5}">
                      <a16:colId xmlns:a16="http://schemas.microsoft.com/office/drawing/2014/main" val="2532914160"/>
                    </a:ext>
                  </a:extLst>
                </a:gridCol>
              </a:tblGrid>
              <a:tr h="17157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MMU-OCR-21: Towards End-to-End Urdu Text Recognition Using Deep Learning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Tayyab Nasir, Muhammad Kamran Malik, and Khurram Shahzad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2021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Large Multi-level and Multi-script Urdu corpus (MMU-OCR-21) proposed for deep learning techniques. Experimented with multiple state-of-the-art deep learning techniques.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Largest-ever Urdu corpus suitable for deep learning techniques.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Addressed limitations of existing Urdu corpora.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Challenges in maintaining consistency across different fonts and styles.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extLst>
                  <a:ext uri="{0D108BD9-81ED-4DB2-BD59-A6C34878D82A}">
                    <a16:rowId xmlns:a16="http://schemas.microsoft.com/office/drawing/2014/main" val="4290341377"/>
                  </a:ext>
                </a:extLst>
              </a:tr>
              <a:tr h="2186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Handwriting Recognition of Historical Documents with Few Labeled Data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Edgard Chammas, Chafic Mokbel, Laurence Likforman-Sulem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2022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Handwriting recognition of historical documents with limited labeled data.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Not specified.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Addressed challenges of handwriting recognition with limited labeled data.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Accuracy may decrease with highly degraded or poorly preserved documents.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extLst>
                  <a:ext uri="{0D108BD9-81ED-4DB2-BD59-A6C34878D82A}">
                    <a16:rowId xmlns:a16="http://schemas.microsoft.com/office/drawing/2014/main" val="27098705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D8AA99-C526-9419-4FA6-EE4AC5BA2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960269"/>
              </p:ext>
            </p:extLst>
          </p:nvPr>
        </p:nvGraphicFramePr>
        <p:xfrm>
          <a:off x="42420" y="654939"/>
          <a:ext cx="9059159" cy="21441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7905">
                  <a:extLst>
                    <a:ext uri="{9D8B030D-6E8A-4147-A177-3AD203B41FA5}">
                      <a16:colId xmlns:a16="http://schemas.microsoft.com/office/drawing/2014/main" val="4014805186"/>
                    </a:ext>
                  </a:extLst>
                </a:gridCol>
                <a:gridCol w="1107905">
                  <a:extLst>
                    <a:ext uri="{9D8B030D-6E8A-4147-A177-3AD203B41FA5}">
                      <a16:colId xmlns:a16="http://schemas.microsoft.com/office/drawing/2014/main" val="3106701313"/>
                    </a:ext>
                  </a:extLst>
                </a:gridCol>
                <a:gridCol w="1533657">
                  <a:extLst>
                    <a:ext uri="{9D8B030D-6E8A-4147-A177-3AD203B41FA5}">
                      <a16:colId xmlns:a16="http://schemas.microsoft.com/office/drawing/2014/main" val="3337829216"/>
                    </a:ext>
                  </a:extLst>
                </a:gridCol>
                <a:gridCol w="878072">
                  <a:extLst>
                    <a:ext uri="{9D8B030D-6E8A-4147-A177-3AD203B41FA5}">
                      <a16:colId xmlns:a16="http://schemas.microsoft.com/office/drawing/2014/main" val="4227158944"/>
                    </a:ext>
                  </a:extLst>
                </a:gridCol>
                <a:gridCol w="1107905">
                  <a:extLst>
                    <a:ext uri="{9D8B030D-6E8A-4147-A177-3AD203B41FA5}">
                      <a16:colId xmlns:a16="http://schemas.microsoft.com/office/drawing/2014/main" val="2706589144"/>
                    </a:ext>
                  </a:extLst>
                </a:gridCol>
                <a:gridCol w="1107905">
                  <a:extLst>
                    <a:ext uri="{9D8B030D-6E8A-4147-A177-3AD203B41FA5}">
                      <a16:colId xmlns:a16="http://schemas.microsoft.com/office/drawing/2014/main" val="3632479283"/>
                    </a:ext>
                  </a:extLst>
                </a:gridCol>
                <a:gridCol w="1107905">
                  <a:extLst>
                    <a:ext uri="{9D8B030D-6E8A-4147-A177-3AD203B41FA5}">
                      <a16:colId xmlns:a16="http://schemas.microsoft.com/office/drawing/2014/main" val="4226581939"/>
                    </a:ext>
                  </a:extLst>
                </a:gridCol>
                <a:gridCol w="1107905">
                  <a:extLst>
                    <a:ext uri="{9D8B030D-6E8A-4147-A177-3AD203B41FA5}">
                      <a16:colId xmlns:a16="http://schemas.microsoft.com/office/drawing/2014/main" val="3214399326"/>
                    </a:ext>
                  </a:extLst>
                </a:gridCol>
              </a:tblGrid>
              <a:tr h="13721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A Multi-Faceted OCR Framework for Artificial Urdu News Ticker Text Recognition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Sami-Ur-Rehman, Burhan Ul Tayyab, Muhammad Ferjad Naeem, Adnan Ul-Hasan, and Faisal Shafait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2020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First instance of Urdu news ticker detection and recognition. Bi-Directional Long Short-Term Memory (BDLSTM) network architecture utilized.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Outperformed Google’s commercial OCR engine in two of the four experiments conducted.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High accuracy for Urdu news ticker text recognition. Comprehensive dataset from 41 news channels.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Accuracy may decrease with low-quality videos or heavily distorted text.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51" marR="14451" marT="0" marB="0"/>
                </a:tc>
                <a:extLst>
                  <a:ext uri="{0D108BD9-81ED-4DB2-BD59-A6C34878D82A}">
                    <a16:rowId xmlns:a16="http://schemas.microsoft.com/office/drawing/2014/main" val="3604507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280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8FCB-1BD8-A327-F162-3C795568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87373"/>
            <a:ext cx="8229240" cy="1142640"/>
          </a:xfrm>
        </p:spPr>
        <p:txBody>
          <a:bodyPr/>
          <a:lstStyle/>
          <a:p>
            <a: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Workload distribution/ Team Work</a:t>
            </a:r>
            <a:b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41AC9C3-7572-9843-132D-6AA0AE37A0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20650" y="1714679"/>
            <a:ext cx="810233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 &amp; Preprocessing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[Aditya Kumar Metha] - Collected and preprocessed old Urdu documents.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Development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[M</a:t>
            </a:r>
            <a:r>
              <a:rPr lang="en-US" altLang="en-US" sz="1600" dirty="0">
                <a:latin typeface="Arial" panose="020B0604020202020204" pitchFamily="34" charset="0"/>
              </a:rPr>
              <a:t>uzamil Hussain mir, Enayat Ullah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 - Developed AI models for text detection and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Design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[Enayat </a:t>
            </a:r>
            <a:r>
              <a:rPr lang="en-US" altLang="en-US" sz="1600" dirty="0">
                <a:latin typeface="Arial" panose="020B0604020202020204" pitchFamily="34" charset="0"/>
              </a:rPr>
              <a:t>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llah, Aditya </a:t>
            </a:r>
            <a:r>
              <a:rPr lang="en-US" altLang="en-US" sz="1600" dirty="0">
                <a:latin typeface="Arial" panose="020B0604020202020204" pitchFamily="34" charset="0"/>
              </a:rPr>
              <a:t>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umar </a:t>
            </a:r>
            <a:r>
              <a:rPr lang="en-US" altLang="en-US" sz="1600" dirty="0">
                <a:latin typeface="Arial" panose="020B0604020202020204" pitchFamily="34" charset="0"/>
              </a:rPr>
              <a:t>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ehta] - UI design web page design 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Paper wor</a:t>
            </a:r>
            <a:r>
              <a:rPr lang="en-US" altLang="en-US" sz="1600" b="1" dirty="0">
                <a:latin typeface="Arial" panose="020B0604020202020204" pitchFamily="34" charset="0"/>
              </a:rPr>
              <a:t>k: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[Aditya </a:t>
            </a:r>
            <a:r>
              <a:rPr lang="en-US" altLang="en-US" sz="1600" dirty="0">
                <a:latin typeface="Arial" panose="020B0604020202020204" pitchFamily="34" charset="0"/>
              </a:rPr>
              <a:t>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umar </a:t>
            </a:r>
            <a:r>
              <a:rPr lang="en-US" altLang="en-US" sz="1600" dirty="0">
                <a:latin typeface="Arial" panose="020B0604020202020204" pitchFamily="34" charset="0"/>
              </a:rPr>
              <a:t>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ehta] , [Enayat </a:t>
            </a:r>
            <a:r>
              <a:rPr lang="en-US" altLang="en-US" sz="1600" dirty="0">
                <a:latin typeface="Arial" panose="020B0604020202020204" pitchFamily="34" charset="0"/>
              </a:rPr>
              <a:t>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llah] 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Regular updates and collaboration ensured the project was progressing smoothly. </a:t>
            </a:r>
          </a:p>
        </p:txBody>
      </p:sp>
    </p:spTree>
    <p:extLst>
      <p:ext uri="{BB962C8B-B14F-4D97-AF65-F5344CB8AC3E}">
        <p14:creationId xmlns:p14="http://schemas.microsoft.com/office/powerpoint/2010/main" val="2195636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F930-A47D-C4DC-A765-2166E2BFB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560"/>
            <a:ext cx="8229240" cy="1142640"/>
          </a:xfrm>
        </p:spPr>
        <p:txBody>
          <a:bodyPr/>
          <a:lstStyle/>
          <a:p>
            <a: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F3DC9-6D14-6BCB-8545-68D08A92E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600200"/>
            <a:ext cx="4350470" cy="4525560"/>
          </a:xfrm>
        </p:spPr>
        <p:txBody>
          <a:bodyPr>
            <a:normAutofit/>
          </a:bodyPr>
          <a:lstStyle/>
          <a:p>
            <a:r>
              <a:rPr lang="en-US" sz="1800" b="1" dirty="0"/>
              <a:t>1. Goal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OCR system to convert historical Urdu texts into modern readable Urdu.</a:t>
            </a:r>
          </a:p>
          <a:p>
            <a:r>
              <a:rPr lang="en-US" sz="1800" b="1" dirty="0"/>
              <a:t>2. Team Roles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Developer</a:t>
            </a:r>
            <a:r>
              <a:rPr lang="en-US" sz="1800" dirty="0"/>
              <a:t>: OCR &amp; web integration.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UI</a:t>
            </a:r>
            <a:r>
              <a:rPr lang="en-US" sz="1800" dirty="0"/>
              <a:t>: Design the web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Tester</a:t>
            </a:r>
            <a:r>
              <a:rPr lang="en-US" sz="1800" dirty="0"/>
              <a:t>: Ensure accuracy.</a:t>
            </a:r>
          </a:p>
          <a:p>
            <a:r>
              <a:rPr lang="en-US" sz="1800" b="1" dirty="0"/>
              <a:t>3. Timeline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Phase 1</a:t>
            </a:r>
            <a:r>
              <a:rPr lang="en-US" sz="1800" dirty="0"/>
              <a:t>: Research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Phase 2</a:t>
            </a:r>
            <a:r>
              <a:rPr lang="en-US" sz="1800" dirty="0"/>
              <a:t>: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Phase 3</a:t>
            </a:r>
            <a:r>
              <a:rPr lang="en-US" sz="1800" dirty="0"/>
              <a:t>: UI Design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Phase 4</a:t>
            </a:r>
            <a:r>
              <a:rPr lang="en-US" sz="1800" dirty="0"/>
              <a:t>: Testing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99C53A-9CAB-E13C-C1D5-0CDF23E2BCFD}"/>
              </a:ext>
            </a:extLst>
          </p:cNvPr>
          <p:cNvSpPr txBox="1"/>
          <p:nvPr/>
        </p:nvSpPr>
        <p:spPr>
          <a:xfrm>
            <a:off x="4807670" y="2136338"/>
            <a:ext cx="40474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4. Milestones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M1</a:t>
            </a:r>
            <a:r>
              <a:rPr lang="en-US" sz="1800" dirty="0"/>
              <a:t>: OCR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M2</a:t>
            </a:r>
            <a:r>
              <a:rPr lang="en-US" sz="1800" dirty="0"/>
              <a:t>: Web Interface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b="1" dirty="0"/>
          </a:p>
          <a:p>
            <a:r>
              <a:rPr lang="en-US" sz="1800" b="1" dirty="0"/>
              <a:t>5. Future Plans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Improve accuracy for handwritten texts.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Expand support to additional languages.</a:t>
            </a:r>
          </a:p>
          <a:p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051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F12C0-0431-56C5-328A-D5348B40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68F7756-637D-937C-3DB3-156102C7444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81407" y="694046"/>
            <a:ext cx="6848572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Architecture</a:t>
            </a:r>
          </a:p>
          <a:p>
            <a:pPr marL="0" indent="0">
              <a:lnSpc>
                <a:spcPct val="150000"/>
              </a:lnSpc>
            </a:pPr>
            <a:r>
              <a:rPr lang="en-US" sz="2000" b="1" dirty="0"/>
              <a:t>Hybrid CNN-RNN Model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Convolutional Neural Network (CNN): </a:t>
            </a:r>
            <a:r>
              <a:rPr lang="en-US" sz="1800" dirty="0"/>
              <a:t>Extract features from Urdu text, basically used for image recognition and processing 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recurrent neural network (RNN)</a:t>
            </a:r>
            <a:r>
              <a:rPr lang="en-US" sz="1800" dirty="0"/>
              <a:t>: Capture sequence patterns and context.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Prediction</a:t>
            </a:r>
            <a:r>
              <a:rPr lang="en-US" sz="1800" dirty="0"/>
              <a:t>: Integrated prediction stage for accurate text output.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5F02DBE-3C4F-702B-2266-DEEF3998E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406" y="3994949"/>
            <a:ext cx="7381187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lvl="0" indent="-3429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800" b="1" dirty="0"/>
              <a:t>MMU-OCR-21 Dataset</a:t>
            </a:r>
            <a:r>
              <a:rPr lang="en-US" sz="1800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 high-quality dataset for diverse, real-world Urdu text recognition.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Covers multiple fonts, sizes, and layouts.</a:t>
            </a:r>
          </a:p>
        </p:txBody>
      </p:sp>
    </p:spTree>
    <p:extLst>
      <p:ext uri="{BB962C8B-B14F-4D97-AF65-F5344CB8AC3E}">
        <p14:creationId xmlns:p14="http://schemas.microsoft.com/office/powerpoint/2010/main" val="3487599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659FCB-2A0B-A253-3224-C6013426C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380" y="1081726"/>
            <a:ext cx="8229240" cy="452556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Key Metrics</a:t>
            </a:r>
            <a:r>
              <a:rPr lang="en-US" sz="2000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Character Accuracy (CLA)</a:t>
            </a:r>
            <a:r>
              <a:rPr lang="en-US" sz="1800" dirty="0"/>
              <a:t>: Correct characters out of total characters.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Word Accuracy (WLA)</a:t>
            </a:r>
            <a:r>
              <a:rPr lang="en-US" sz="1800" dirty="0"/>
              <a:t>: Correct words out of total words.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Word Error Rate (WER)</a:t>
            </a:r>
            <a:r>
              <a:rPr lang="en-US" sz="1800" dirty="0"/>
              <a:t>: Measures mistakes in word predictions.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Character Error Rate (CER)</a:t>
            </a:r>
            <a:r>
              <a:rPr lang="en-US" sz="1800" dirty="0"/>
              <a:t>: Measures mistakes in character predictions.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F1-Score</a:t>
            </a:r>
            <a:r>
              <a:rPr lang="en-US" sz="1800" dirty="0"/>
              <a:t>: Combines Precision and Recall for overall performance.</a:t>
            </a:r>
          </a:p>
          <a:p>
            <a:pPr marL="457200" lvl="1" indent="0"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Other Metrics</a:t>
            </a:r>
            <a:r>
              <a:rPr lang="en-US" sz="2000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Robustness</a:t>
            </a:r>
            <a:r>
              <a:rPr lang="en-US" sz="1800" dirty="0"/>
              <a:t>: Performance with different fonts and layouts.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Consistency</a:t>
            </a:r>
            <a:r>
              <a:rPr lang="en-US" sz="1800" dirty="0"/>
              <a:t>: Stable performance across various datasets.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Inference Time</a:t>
            </a:r>
            <a:r>
              <a:rPr lang="en-US" sz="1800" dirty="0"/>
              <a:t>: Speed of recognizing text in real-time.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55643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CE0BD-1E8F-8BC2-A687-F5EAE6FD1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380" y="689459"/>
            <a:ext cx="8229240" cy="1142640"/>
          </a:xfrm>
        </p:spPr>
        <p:txBody>
          <a:bodyPr/>
          <a:lstStyle/>
          <a:p>
            <a: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Solution Approach</a:t>
            </a:r>
            <a:b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DC22081-7EEF-6EB9-36A7-51C8C94E845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48413" y="1388450"/>
            <a:ext cx="4909450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Normalize the image for consistent input.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Detection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Detect text lines using YOLO.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 Recognition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 Bidirectional LSTM to recognize characters in the text lines. 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sz="1800" b="1" dirty="0"/>
              <a:t>Step 4</a:t>
            </a:r>
            <a:r>
              <a:rPr lang="en-US" sz="1800" dirty="0"/>
              <a:t>: </a:t>
            </a:r>
            <a:r>
              <a:rPr lang="en-US" sz="1800" b="1" dirty="0"/>
              <a:t>Result Output</a:t>
            </a:r>
            <a:r>
              <a:rPr lang="en-US" sz="1800" dirty="0"/>
              <a:t>: Show the original image with recognized text 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F63AF4-0874-5121-A8B8-24D3843D9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863" y="1445896"/>
            <a:ext cx="3319790" cy="41367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4071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CE2FE-398F-D466-6C71-14DD303C3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and framework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11AE28-F43C-0A65-3030-4A780987303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57200" y="994903"/>
            <a:ext cx="786666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1. Feature Extraction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Extracts key visual features using models like HRNet, DenseNet, ResNet, etc.</a:t>
            </a:r>
          </a:p>
          <a:p>
            <a:r>
              <a:rPr lang="en-US" sz="1800" b="1" dirty="0"/>
              <a:t>2. Sequence Modeling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Utilizes LSTM, BiLSTM, GRU(Gated Recurrent Unit) to capture feature sequence and context.</a:t>
            </a:r>
          </a:p>
          <a:p>
            <a:r>
              <a:rPr lang="en-US" sz="1800" b="1" dirty="0"/>
              <a:t>3. Dropout Layers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Prevents overfitting by randomly deactivating features during training.</a:t>
            </a:r>
          </a:p>
          <a:p>
            <a:r>
              <a:rPr lang="en-US" sz="1800" b="1" dirty="0"/>
              <a:t>4. Prediction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Uses CTC for basic predictions or Attention for context-aware results.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C9B4F4C-E024-0424-2E6F-E3E2E151A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561784"/>
            <a:ext cx="786666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lvl="0" indent="-3429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Key Flow:</a:t>
            </a:r>
            <a:endParaRPr lang="en-US" sz="1800" dirty="0"/>
          </a:p>
          <a:p>
            <a:pPr>
              <a:buFont typeface="+mj-lt"/>
              <a:buAutoNum type="arabicPeriod"/>
            </a:pPr>
            <a:r>
              <a:rPr lang="en-US" sz="1800" b="1" dirty="0"/>
              <a:t>Feature Extraction:</a:t>
            </a:r>
            <a:r>
              <a:rPr lang="en-US" sz="1800" dirty="0"/>
              <a:t> Capture visual features from images.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Sequence Modeling:</a:t>
            </a:r>
            <a:r>
              <a:rPr lang="en-US" sz="1800" dirty="0"/>
              <a:t> Understand feature sequence and context.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Dropout:</a:t>
            </a:r>
            <a:r>
              <a:rPr lang="en-US" sz="1800" dirty="0"/>
              <a:t> Enhance model by random feature deactivation.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Prediction:</a:t>
            </a:r>
            <a:r>
              <a:rPr lang="en-US" sz="1800" dirty="0"/>
              <a:t> Generate predictions with CTC or Attention.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CF5E39-8E7B-32DB-7748-49E67E656FD2}"/>
              </a:ext>
            </a:extLst>
          </p:cNvPr>
          <p:cNvSpPr txBox="1"/>
          <p:nvPr/>
        </p:nvSpPr>
        <p:spPr>
          <a:xfrm>
            <a:off x="405352" y="5248544"/>
            <a:ext cx="7970363" cy="952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Benefits: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Flexible:</a:t>
            </a:r>
            <a:r>
              <a:rPr lang="en-US" dirty="0"/>
              <a:t> Supports diverse models for extraction and sequence modeling.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Robust:</a:t>
            </a:r>
            <a:r>
              <a:rPr lang="en-US" dirty="0"/>
              <a:t> Dropout and attention boost accuracy.</a:t>
            </a:r>
          </a:p>
        </p:txBody>
      </p:sp>
    </p:spTree>
    <p:extLst>
      <p:ext uri="{BB962C8B-B14F-4D97-AF65-F5344CB8AC3E}">
        <p14:creationId xmlns:p14="http://schemas.microsoft.com/office/powerpoint/2010/main" val="1379019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7" descr="PlantUML Diagram">
            <a:extLst>
              <a:ext uri="{FF2B5EF4-FFF2-40B4-BE49-F238E27FC236}">
                <a16:creationId xmlns:a16="http://schemas.microsoft.com/office/drawing/2014/main" id="{2F2152D0-6AE0-B5A4-C43E-76D3ECA14EB4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387905"/>
            <a:ext cx="7200900" cy="55908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C32DC8-E1B2-44E1-3FE5-601B95F1E8E1}"/>
              </a:ext>
            </a:extLst>
          </p:cNvPr>
          <p:cNvSpPr txBox="1"/>
          <p:nvPr/>
        </p:nvSpPr>
        <p:spPr>
          <a:xfrm>
            <a:off x="3486150" y="610076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Overall Project Workflow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87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5AF86-E756-B072-BDC7-6AE461FFC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Outcome Produced</a:t>
            </a:r>
            <a:b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405124-434F-2335-423E-3954634D4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0765" y="2571683"/>
            <a:ext cx="1322110" cy="555564"/>
          </a:xfrm>
        </p:spPr>
        <p:txBody>
          <a:bodyPr>
            <a:normAutofit/>
          </a:bodyPr>
          <a:lstStyle/>
          <a:p>
            <a:r>
              <a:rPr lang="en-US" sz="1800" dirty="0"/>
              <a:t>OCR 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BE5E04-41A4-6B5F-F0F2-2FE46BE7E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810" y="975309"/>
            <a:ext cx="5808660" cy="1722358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AFC92289-55E1-463E-C49B-ED95C22E0B60}"/>
              </a:ext>
            </a:extLst>
          </p:cNvPr>
          <p:cNvSpPr txBox="1">
            <a:spLocks/>
          </p:cNvSpPr>
          <p:nvPr/>
        </p:nvSpPr>
        <p:spPr>
          <a:xfrm>
            <a:off x="3916296" y="6407417"/>
            <a:ext cx="1503575" cy="45058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342900" lvl="0" indent="-3429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Web page result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213C54-DF51-3C28-4413-32D0335AB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48687"/>
            <a:ext cx="3295397" cy="2634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522AB2-08B9-659A-00EF-A20A7A277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217" y="3242393"/>
            <a:ext cx="3521731" cy="2634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033293-726A-E0B8-7E0F-44187D5249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948" y="3236098"/>
            <a:ext cx="2628901" cy="264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30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6DD6E-99F3-D8FB-ABB3-5A7F2099F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the Outcome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FD4F87-6099-038F-FB65-2312BC47B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365" y="845999"/>
            <a:ext cx="3805635" cy="28001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70CFFC-9C9A-A97E-0BAD-8CA12742D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46" y="3646131"/>
            <a:ext cx="3800154" cy="28007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8EDF01-04A6-3453-DDCF-7A53E6C65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19" y="845998"/>
            <a:ext cx="3800153" cy="279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03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147EC1-9690-D7AE-A2F6-D1D7C40DE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27" y="752102"/>
            <a:ext cx="2882881" cy="40913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E0DB1A-158A-DF32-CE4B-536980ADB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89" y="752102"/>
            <a:ext cx="2890162" cy="4091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6080B5-7EA8-2D87-3005-6A880AD23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5808" y="752102"/>
            <a:ext cx="2899562" cy="409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393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A black and white text&#10;&#10;Description automatically generated">
            <a:extLst>
              <a:ext uri="{FF2B5EF4-FFF2-40B4-BE49-F238E27FC236}">
                <a16:creationId xmlns:a16="http://schemas.microsoft.com/office/drawing/2014/main" id="{5EE76881-2A11-5325-0246-33A1B972E51A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74" y="2060935"/>
            <a:ext cx="6485641" cy="273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47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3450</TotalTime>
  <Words>1275</Words>
  <Application>Microsoft Office PowerPoint</Application>
  <PresentationFormat>On-screen Show (4:3)</PresentationFormat>
  <Paragraphs>170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PowerPoint Presentation</vt:lpstr>
      <vt:lpstr>Approval from guide for the evaluation</vt:lpstr>
      <vt:lpstr>Contents of the Presentation</vt:lpstr>
      <vt:lpstr>Introduction to the project </vt:lpstr>
      <vt:lpstr>Motivation for the project </vt:lpstr>
      <vt:lpstr>Problem Statements/Objectives of the Project </vt:lpstr>
      <vt:lpstr>Literature Survey </vt:lpstr>
      <vt:lpstr>PowerPoint Presentation</vt:lpstr>
      <vt:lpstr>Workload distribution/ Team Work </vt:lpstr>
      <vt:lpstr>Project Planning</vt:lpstr>
      <vt:lpstr>Methodology used </vt:lpstr>
      <vt:lpstr>PowerPoint Presentation</vt:lpstr>
      <vt:lpstr>Solution Approach </vt:lpstr>
      <vt:lpstr>Algorithms and framework </vt:lpstr>
      <vt:lpstr>PowerPoint Presentation</vt:lpstr>
      <vt:lpstr>Outcome Produced </vt:lpstr>
      <vt:lpstr>Proof of the Outcome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pooja</dc:creator>
  <cp:lastModifiedBy>Aditya Kumar Mehta</cp:lastModifiedBy>
  <cp:revision>75</cp:revision>
  <dcterms:created xsi:type="dcterms:W3CDTF">2019-03-30T06:52:13Z</dcterms:created>
  <dcterms:modified xsi:type="dcterms:W3CDTF">2025-05-25T07:56:27Z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21</vt:i4>
  </property>
</Properties>
</file>